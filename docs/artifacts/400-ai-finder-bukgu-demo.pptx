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보여드릴 것은 특정 기관 사이트를 AI가 직접 읽고, 사용자의 질문에 맞춰 출처 기반 답변을 생성하는 데모입니다.</a:t>
            </a:r>
          </a:p>
          <a:p>
            <a:r>
              <a:t>예시는 광주광역시 북구청 사이트입니다.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공공기관 사이트에는 유용한 정보가 많지만, 일반 사용자가 원하는 정보를 빠르게 찾기는 어렵습니다.</a:t>
            </a:r>
          </a:p>
          <a:p>
            <a:r>
              <a:t>또 AI가 답변하더라도 그 답변이 실제 공식 사이트에 근거했는지 확인할 수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400-ai-finder는 AI가 혼자 답을 추측하는 구조가 아닙니다.</a:t>
            </a:r>
          </a:p>
          <a:p>
            <a:r>
              <a:t>먼저 대상 사이트에서 관련 자료를 가져오고, LLM이 그 자료를 바탕으로 답변합니다.</a:t>
            </a:r>
          </a:p>
          <a:p>
            <a:r>
              <a:t>따라서 답변 아래의 출처 URL을 통해 공식 사이트 근거를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데모는 북구청 사이트를 대상으로 진행합니다.</a:t>
            </a:r>
          </a:p>
          <a:p>
            <a:r>
              <a:t>공지사항, 민원, 청년·일자리 질문을 차례로 실행하고, 답변이 어떤 출처에 근거하는지 함께 확인하겠습니다.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live fetch와 live LLM을 사용해 검증한 결과, 주요 질문들은 데모에 적합한 답변을 생성했습니다.</a:t>
            </a:r>
          </a:p>
          <a:p>
            <a:r>
              <a:t>도메인 검증은 별도의 검색 질문으로 던지기보다, 각 답변의 출처 URL을 직접 확인하는 방식이 더 안정적입니다.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중요한 것은 답변 내용만 보는 것이 아닙니다.</a:t>
            </a:r>
          </a:p>
          <a:p>
            <a:r>
              <a:t>각 답변이 어떤 출처에서 왔는지, 그리고 그 출처가 북구청 공식 도메인인지 함께 확인하는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북구청은 하나의 예시입니다.</a:t>
            </a:r>
          </a:p>
          <a:p>
            <a:r>
              <a:t>같은 구조를 다른 지자체나 공공기관 사이트에 적용하면, 기관별 사이트를 AI와 대화하면서 탐색하는 서비스로 확장할 수 있습니다.</a:t>
            </a:r>
          </a:p>
          <a:p/>
          <a:p>
            <a:r>
              <a:t>따라서 400-ai-finder는 특정 사이트를 AI와 대화하면서 탐색하는 MVP를 넘어, 제한된 조건에서 외부 시연 가능한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CJK KR"/>
              </a:defRPr>
            </a:pPr>
            <a:r>
              <a:t>400-ai-finder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  <a:latin typeface="Noto Sans CJK KR"/>
              </a:defRPr>
            </a:pPr>
            <a:r>
              <a:t>특정 기관 사이트를 AI와 대화하면서 탐색하는</a:t>
            </a:r>
            <a:br/>
            <a:r>
              <a:t>출처 기반 정보검색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AABB"/>
                </a:solidFill>
                <a:latin typeface="Noto Sans CJK KR"/>
              </a:defRPr>
            </a:pPr>
            <a:r>
              <a:t>AI가 일반 지식을 추측하는 것이 아니라, 실제 사이트에서 가져온 자료에 근거해 답변합니다.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99"/>
                </a:solidFill>
                <a:latin typeface="Noto Sans CJK KR"/>
              </a:defRPr>
            </a:pPr>
            <a:r>
              <a:t>데모 대상: 광주광역시 북구청  •  bukgu.gwangju.kr  •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Noto Sans CJK KR"/>
              </a:defRPr>
            </a:pPr>
            <a:r>
              <a:t>문제의식: 공공기관 사이트 정보 탐색의 어려움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Noto Sans CJK KR"/>
              </a:defRPr>
            </a:pPr>
            <a:r>
              <a:t>현재 공공기관 사이트의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공지사항, 고시공고, 민원, 복지, 청년·일자리 정보가 여러 메뉴와 게시판에 흩어져 있음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기관마다 메뉴 구조와 게시판 명칭이 달라 검색이 쉽지 않음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사용자가 원하는 정보를 찾기 위해 여러 메뉴를 직접 탐색해야 함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일반 검색엔진이나 챗봇은 답변이 빠르더라도, 실제 공식 사이트에 근거했는지 확인하기 어려움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Noto Sans CJK KR"/>
              </a:defRPr>
            </a:pPr>
            <a:r>
              <a:t>400-ai-finder의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특정 공공기관 사이트를 실제로 읽고 탐색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사용자 질문에 맞춰 관련 페이지를 실시간 fetch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LLM이 가져온 자료를 바탕으로 답변 생성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Noto Sans CJK KR"/>
              </a:defRPr>
            </a:pPr>
            <a:r>
              <a:t>• 답변과 함께 출처 URL 제공 → 공식 도메인 grounding 검증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Noto Sans CJK KR"/>
              </a:defRPr>
            </a:pPr>
            <a:r>
              <a:t>400-ai-finder의 접근: 사이트 fetch → LLM 답변 → 출처 검증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사용자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자연어로 질문</a:t>
            </a:r>
            <a:br/>
            <a:r>
              <a:t>예: "공지사항 어디서 봐?"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63040" y="1645920"/>
            <a:ext cx="155448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17520" y="1371600"/>
            <a:ext cx="731520" cy="7315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사이트 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대상 사이트에서</a:t>
            </a:r>
            <a:br/>
            <a:r>
              <a:t>관련 페이지 실시간 수집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9040" y="1645920"/>
            <a:ext cx="155448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03520" y="1371600"/>
            <a:ext cx="731520" cy="7315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LLM 답변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fetch된 자료를 바탕으로</a:t>
            </a:r>
            <a:br/>
            <a:r>
              <a:t>근거 기반 답변 생성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35040" y="1645920"/>
            <a:ext cx="155448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0" y="1371600"/>
            <a:ext cx="731520" cy="7315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출처 URL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답변 하단에</a:t>
            </a:r>
            <a:br/>
            <a:r>
              <a:t>출처 링크 표시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21040" y="1645920"/>
            <a:ext cx="155448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0" y="137160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194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도메인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북구청 공식 도메인</a:t>
            </a:r>
            <a:br/>
            <a:r>
              <a:t>또는 관련 공식 출처인지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0728655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Noto Sans CJK KR"/>
              </a:defRPr>
            </a:pPr>
            <a:r>
              <a:t>핵심 차별점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✓ AI가 일반 지식을 추측하는 것이 아니라, 실제 사이트에서 가져온 자료에 근거해 답변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✓ 답변마다 출처 URL 제공 → 공식 도메인(bukgu.gwangju.kr 등) 근거 직접 확인 가능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✓ Mock/offline 테스트를 넘어 실제 live fetch + live LLM 제품 검증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Noto Sans CJK KR"/>
              </a:defRPr>
            </a:pPr>
            <a:r>
              <a:t>북구청 데모 구성: 실제 검증된 환경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대상 기관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광주광역시 북구청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도메인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bukgu.gwangju.kr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Site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bukgu_gwangju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LLM provider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NVIDIA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검증 모델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openai/gpt-oss-120b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Fetch provider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requests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Firecrawl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미사용 (requests만 사용)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1188720"/>
            <a:ext cx="5029200" cy="4114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Noto Sans CJK KR"/>
              </a:defRPr>
            </a:pPr>
            <a:r>
              <a:t>데모 질문 (실제 검증 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• Q1. 북구청에서 최근 공지사항이나 고시공고를 어디에서 확인할 수 있나요?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• Q2. 북구청 민원 신청이나 온라인 민원 안내는 어디에서 확인할 수 있나요?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• Q3. 북구청 사이트에서 청년 또는 일자리 관련 정보를 찾으려면 어떻게 접근해야 하나요?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※ Q5 "도메인 확인" 질문은 검색 쿼리가 아닌 검증 요청이라</a:t>
            </a:r>
            <a:br/>
            <a:r>
              <a:t>   별도 실행하지 않고, Q1~Q3 답변의 출처 URL을</a:t>
            </a:r>
            <a:br/>
            <a:r>
              <a:t>   직접 확인하는 방식으로 검증합니다.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728655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Noto Sans CJK KR"/>
              </a:defRPr>
            </a:pPr>
            <a:r>
              <a:t>실행 명령 템플릿 (API key는 로컬 env만 사용)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nsolas"/>
              </a:defRPr>
            </a:pPr>
            <a:r>
              <a:t>export AI_FINDER_LLM_PROVIDER=nvidia &amp;&amp; export NVIDIA_API_KEY="&lt;LOCAL_SECRET_ONLY&gt;" &amp;&amp; export AI_FINDER_FETCH_PROVIDER=requests</a:t>
            </a:r>
            <a:br/>
            <a:r>
              <a:t>python scripts/demo_answer.py --allow-live --fetch-provider requests --site-profile bukgu_gwangju --question "..."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Noto Sans CJK KR"/>
              </a:defRPr>
            </a:pPr>
            <a:r>
              <a:t>실제 검증 결과: live fetch + live LLM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156655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질문 유형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공지사항·고시공고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27AE60"/>
                          </a:solidFill>
                          <a:latin typeface="Noto Sans CJK KR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데모 적합 • 5개 출처 모두 bukgu.gwangju.kr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복지 지원사업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27AE60"/>
                          </a:solidFill>
                          <a:latin typeface="Noto Sans CJK KR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데모 적합 • 관련 공식 외부 도메인(workplus.go.kr) 포함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민원 신청·온라인 민원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27AE60"/>
                          </a:solidFill>
                          <a:latin typeface="Noto Sans CJK KR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데모 적합 • 5개 출처 모두 공식 도메인/서브도메인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청년·일자리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27AE60"/>
                          </a:solidFill>
                          <a:latin typeface="Noto Sans CJK KR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데모 적합 • "일자리 정보" 메뉴 정확히 매칭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도메인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E67E22"/>
                          </a:solidFill>
                          <a:latin typeface="Noto Sans CJK KR"/>
                        </a:defRPr>
                      </a:pPr>
                      <a:r>
                        <a:t>WARN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33333"/>
                          </a:solidFill>
                          <a:latin typeface="Noto Sans CJK KR"/>
                        </a:defRPr>
                      </a:pPr>
                      <a:r>
                        <a:t>별도 검색 질문보다 답변 출처 확인 방식 권장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120640"/>
            <a:ext cx="10728655" cy="13716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Noto Sans CJK KR"/>
              </a:defRPr>
            </a:pPr>
            <a:r>
              <a:t>핵심: mock/offline을 넘어 실제 live fetch + live LLM 제품 검증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Noto Sans CJK KR"/>
              </a:defRPr>
            </a:pPr>
            <a:r>
              <a:t>북구청 관련 질문에 대해 실제 사이트를 fetch하고, LLM이 그 자료를 바탕으로 답변을 생성하는 end-to-end 흐름이 정상 작동했습니다.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Noto Sans CJK KR"/>
              </a:defRPr>
            </a:pPr>
            <a:r>
              <a:t>라이브 데모 진행 순서: Q1 → Q3 → 출처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31620" y="105156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북구청 site profile</a:t>
            </a:r>
            <a:br/>
            <a:r>
              <a:t>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bukgu_gwangju</a:t>
            </a:r>
            <a:br/>
            <a:r>
              <a:t>bukgu.gwangju.kr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2801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11980" y="105156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54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Q1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945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공지사항·고시공고</a:t>
            </a:r>
            <a:br/>
            <a:r>
              <a:t>질문 → 답변 + 출처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2801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92339" y="105156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19" y="1554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출처 URL</a:t>
            </a:r>
            <a:br/>
            <a:r>
              <a:t>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21945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bukgu.gwangju.kr</a:t>
            </a:r>
            <a:br/>
            <a:r>
              <a:t>도메인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28016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72699" y="105156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79" y="15544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Q2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79" y="219456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민원 신청·온라인</a:t>
            </a:r>
            <a:br/>
            <a:r>
              <a:t>민원 질문 → 답변 + 출처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31620" y="3611879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1479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출처 URL</a:t>
            </a:r>
            <a:br/>
            <a:r>
              <a:t>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5487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공식 도메인 +</a:t>
            </a:r>
            <a:br/>
            <a:r>
              <a:t>서브도메인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840479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11980" y="3611879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11479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Q3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75487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청년·일자리</a:t>
            </a:r>
            <a:br/>
            <a:r>
              <a:t>질문 → 답변 + 출처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840479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92339" y="3611879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19" y="411479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출처 URL</a:t>
            </a:r>
            <a:br/>
            <a:r>
              <a:t>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475487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"일자리 정보" 메뉴</a:t>
            </a:r>
            <a:br/>
            <a:r>
              <a:t>정확히 매칭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19" y="3840479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72699" y="3611879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79" y="411479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Noto Sans CJK KR"/>
              </a:defRPr>
            </a:pPr>
            <a:r>
              <a:t>도메인</a:t>
            </a:r>
            <a:br/>
            <a:r>
              <a:t>grounding 설명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79" y="4754879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Noto Sans CJK KR"/>
              </a:defRPr>
            </a:pPr>
            <a:r>
              <a:t>Q1~Q3 모든 답변이</a:t>
            </a:r>
            <a:br/>
            <a:r>
              <a:t>공식 도메인에 근거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486400"/>
            <a:ext cx="10728655" cy="10972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Noto Sans CJK KR"/>
              </a:defRPr>
            </a:pPr>
            <a:r>
              <a:t>중요: 답변 내용만 보는 것이 아니라, 각 답변의 출처 URL이 공식 도메인인지 함께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Noto Sans CJK KR"/>
              </a:defRPr>
            </a:pPr>
            <a:r>
              <a:t>Q5는 별도 검색 질문으로 실행하지 않음 — Q1~Q3 답변의 source URL을 직접 보여주며 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C"/>
                </a:solidFill>
                <a:latin typeface="Noto Sans CJK KR"/>
              </a:defRPr>
            </a:pPr>
            <a:r>
              <a:t>활용 가능성 및 다음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Noto Sans CJK KR"/>
              </a:defRPr>
            </a:pPr>
            <a:r>
              <a:t>기대 활용처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지자체 홈페이지 민원·복지·공지 안내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공공기관 내부 정보 탐색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고시공고·지원사업·교육사업 검색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시민 대상 AI 민원 도우미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특정 기관 사이트 기반 RAG형 챗봇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여러 기관 사이트를 대상으로 한 AI 통합 안내 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Noto Sans CJK KR"/>
              </a:defRPr>
            </a:pPr>
            <a:r>
              <a:t>다음 확장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다른 지자체(광주광역시청 등) site profile 추가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공공기관(경찰청, 행정안전부 등) 사이트 적용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복지기관(복지부, 건강보험공단 등) 메뉴 구조 최적화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다중 기관 통합 검색 및 비교 안내 기능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브라우저 확장 프로그램 / 위젯 형태 배포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Noto Sans CJK KR"/>
              </a:defRPr>
            </a:pPr>
            <a:r>
              <a:t>▸ 운영자 대시보드 기반 실시간 품질 모니터링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72865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한 줄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DD"/>
                </a:solidFill>
                <a:latin typeface="Noto Sans CJK KR"/>
              </a:defRPr>
            </a:pPr>
            <a:r>
              <a:t>400-ai-finder는 특정 공공기관 사이트를 AI가 직접 읽고, 사용자의 질문에 대해 공식 출처 기반 답변을 생성하는 사이트 대화형 정보탐색 도구입니다.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